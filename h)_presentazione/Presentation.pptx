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18257874015748"/>
          <c:y val="3.0982533872479019E-2"/>
          <c:w val="0.88544242125984252"/>
          <c:h val="0.8878864427649731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ln w="31750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2"/>
            <c:spPr>
              <a:solidFill>
                <a:schemeClr val="bg2">
                  <a:lumMod val="75000"/>
                </a:schemeClr>
              </a:solidFill>
              <a:ln w="76200">
                <a:solidFill>
                  <a:schemeClr val="bg2">
                    <a:lumMod val="75000"/>
                  </a:schemeClr>
                </a:solidFill>
              </a:ln>
              <a:effectLst/>
            </c:spPr>
          </c:marker>
          <c:dPt>
            <c:idx val="6"/>
            <c:marker>
              <c:symbol val="circle"/>
              <c:size val="6"/>
              <c:spPr>
                <a:solidFill>
                  <a:srgbClr val="FFC000"/>
                </a:solidFill>
                <a:ln w="762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C420-4702-95CE-925D674183C6}"/>
              </c:ext>
            </c:extLst>
          </c:dPt>
          <c:cat>
            <c:numRef>
              <c:f>Sheet1!$A$2:$A$8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42336.21</c:v>
                </c:pt>
                <c:pt idx="1">
                  <c:v>136558.85</c:v>
                </c:pt>
                <c:pt idx="2">
                  <c:v>238186.58</c:v>
                </c:pt>
                <c:pt idx="3">
                  <c:v>387793.14</c:v>
                </c:pt>
                <c:pt idx="4">
                  <c:v>572333.53</c:v>
                </c:pt>
                <c:pt idx="5">
                  <c:v>857388.57</c:v>
                </c:pt>
                <c:pt idx="6">
                  <c:v>1433151.92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420-4702-95CE-925D67418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9041727"/>
        <c:axId val="1109040767"/>
      </c:lineChart>
      <c:catAx>
        <c:axId val="1109041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09040767"/>
        <c:crosses val="autoZero"/>
        <c:auto val="1"/>
        <c:lblAlgn val="ctr"/>
        <c:lblOffset val="100"/>
        <c:noMultiLvlLbl val="0"/>
      </c:catAx>
      <c:valAx>
        <c:axId val="1109040767"/>
        <c:scaling>
          <c:orientation val="minMax"/>
          <c:max val="1500000"/>
        </c:scaling>
        <c:delete val="0"/>
        <c:axPos val="l"/>
        <c:numFmt formatCode="_-[$$-409]* #,##0_ ;_-[$$-409]* \-#,##0\ ;_-[$$-409]* &quot;-&quot;_ ;_-@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09041727"/>
        <c:crosses val="autoZero"/>
        <c:crossBetween val="between"/>
        <c:majorUnit val="50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98676684085743"/>
          <c:y val="8.1715931746067449E-2"/>
          <c:w val="0.78350273123213554"/>
          <c:h val="0.9107649418461685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profit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F014-4840-A45A-2EC082111C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F014-4840-A45A-2EC082111C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F014-4840-A45A-2EC082111C4E}"/>
              </c:ext>
            </c:extLst>
          </c:dPt>
          <c:cat>
            <c:strRef>
              <c:f>Sheet1!$A$2:$A$16</c:f>
              <c:strCache>
                <c:ptCount val="14"/>
                <c:pt idx="0">
                  <c:v>China</c:v>
                </c:pt>
                <c:pt idx="1">
                  <c:v>United States</c:v>
                </c:pt>
                <c:pt idx="2">
                  <c:v>Brasil</c:v>
                </c:pt>
                <c:pt idx="3">
                  <c:v>South Korea</c:v>
                </c:pt>
                <c:pt idx="4">
                  <c:v>United Kingdom</c:v>
                </c:pt>
                <c:pt idx="5">
                  <c:v>France</c:v>
                </c:pt>
                <c:pt idx="6">
                  <c:v>Germany</c:v>
                </c:pt>
                <c:pt idx="7">
                  <c:v>Spain</c:v>
                </c:pt>
                <c:pt idx="8">
                  <c:v>Japan</c:v>
                </c:pt>
                <c:pt idx="9">
                  <c:v>Australia</c:v>
                </c:pt>
                <c:pt idx="10">
                  <c:v>Belgium</c:v>
                </c:pt>
                <c:pt idx="11">
                  <c:v>Poland</c:v>
                </c:pt>
                <c:pt idx="12">
                  <c:v>Colombia</c:v>
                </c:pt>
                <c:pt idx="13">
                  <c:v>Austria</c:v>
                </c:pt>
              </c:strCache>
            </c:strRef>
          </c:cat>
          <c:val>
            <c:numRef>
              <c:f>Sheet1!$B$2:$B$16</c:f>
              <c:numCache>
                <c:formatCode>0.00%</c:formatCode>
                <c:ptCount val="15"/>
                <c:pt idx="0">
                  <c:v>0.33589999999999998</c:v>
                </c:pt>
                <c:pt idx="1">
                  <c:v>0.23169999999999999</c:v>
                </c:pt>
                <c:pt idx="2">
                  <c:v>0.1467</c:v>
                </c:pt>
                <c:pt idx="3">
                  <c:v>5.4300000000000001E-2</c:v>
                </c:pt>
                <c:pt idx="4">
                  <c:v>4.6100000000000002E-2</c:v>
                </c:pt>
                <c:pt idx="5">
                  <c:v>4.4299999999999999E-2</c:v>
                </c:pt>
                <c:pt idx="6">
                  <c:v>4.0800000000000003E-2</c:v>
                </c:pt>
                <c:pt idx="7">
                  <c:v>3.9699999999999999E-2</c:v>
                </c:pt>
                <c:pt idx="8">
                  <c:v>2.5100000000000001E-2</c:v>
                </c:pt>
                <c:pt idx="9">
                  <c:v>1.9900000000000001E-2</c:v>
                </c:pt>
                <c:pt idx="10">
                  <c:v>1.3100000000000001E-2</c:v>
                </c:pt>
                <c:pt idx="11">
                  <c:v>2E-3</c:v>
                </c:pt>
                <c:pt idx="12">
                  <c:v>2.0000000000000001E-4</c:v>
                </c:pt>
                <c:pt idx="1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14-4840-A45A-2EC082111C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9045567"/>
        <c:axId val="1109043647"/>
      </c:barChart>
      <c:catAx>
        <c:axId val="110904556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09043647"/>
        <c:crosses val="autoZero"/>
        <c:auto val="1"/>
        <c:lblAlgn val="ctr"/>
        <c:lblOffset val="100"/>
        <c:noMultiLvlLbl val="0"/>
      </c:catAx>
      <c:valAx>
        <c:axId val="1109043647"/>
        <c:scaling>
          <c:orientation val="minMax"/>
          <c:max val="0.35000000000000003"/>
        </c:scaling>
        <c:delete val="0"/>
        <c:axPos val="b"/>
        <c:numFmt formatCode="0%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09045567"/>
        <c:crosses val="max"/>
        <c:crossBetween val="between"/>
        <c:majorUnit val="5.000000000000001E-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417458169291338"/>
          <c:y val="7.3849062785679181E-2"/>
          <c:w val="0.80873166830708665"/>
          <c:h val="0.901204650302164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Perc_users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0BF-4696-A11A-6FAAC162913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4-60BF-4696-A11A-6FAAC162913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60BF-4696-A11A-6FAAC162913C}"/>
              </c:ext>
            </c:extLst>
          </c:dPt>
          <c:cat>
            <c:strRef>
              <c:f>Sheet1!$A$2:$A$15</c:f>
              <c:strCache>
                <c:ptCount val="14"/>
                <c:pt idx="0">
                  <c:v>China</c:v>
                </c:pt>
                <c:pt idx="1">
                  <c:v>United States</c:v>
                </c:pt>
                <c:pt idx="2">
                  <c:v>Brasil</c:v>
                </c:pt>
                <c:pt idx="3">
                  <c:v>South Korea</c:v>
                </c:pt>
                <c:pt idx="4">
                  <c:v>France</c:v>
                </c:pt>
                <c:pt idx="5">
                  <c:v>United Kingdom</c:v>
                </c:pt>
                <c:pt idx="6">
                  <c:v>Germany</c:v>
                </c:pt>
                <c:pt idx="7">
                  <c:v>Spain</c:v>
                </c:pt>
                <c:pt idx="8">
                  <c:v>Japan</c:v>
                </c:pt>
                <c:pt idx="9">
                  <c:v>Australia</c:v>
                </c:pt>
                <c:pt idx="10">
                  <c:v>Belgium</c:v>
                </c:pt>
                <c:pt idx="11">
                  <c:v>Poland</c:v>
                </c:pt>
                <c:pt idx="12">
                  <c:v>Colombia</c:v>
                </c:pt>
                <c:pt idx="13">
                  <c:v>Austria</c:v>
                </c:pt>
              </c:strCache>
            </c:strRef>
          </c:cat>
          <c:val>
            <c:numRef>
              <c:f>Sheet1!$B$2:$B$15</c:f>
              <c:numCache>
                <c:formatCode>0.00%</c:formatCode>
                <c:ptCount val="14"/>
                <c:pt idx="0">
                  <c:v>0.3402</c:v>
                </c:pt>
                <c:pt idx="1">
                  <c:v>0.22639999999999999</c:v>
                </c:pt>
                <c:pt idx="2">
                  <c:v>0.14549999999999999</c:v>
                </c:pt>
                <c:pt idx="3">
                  <c:v>5.3100000000000001E-2</c:v>
                </c:pt>
                <c:pt idx="4">
                  <c:v>4.6800000000000001E-2</c:v>
                </c:pt>
                <c:pt idx="5">
                  <c:v>4.5499999999999999E-2</c:v>
                </c:pt>
                <c:pt idx="6">
                  <c:v>4.1000000000000002E-2</c:v>
                </c:pt>
                <c:pt idx="7">
                  <c:v>3.9699999999999999E-2</c:v>
                </c:pt>
                <c:pt idx="8">
                  <c:v>2.47E-2</c:v>
                </c:pt>
                <c:pt idx="9">
                  <c:v>2.1999999999999999E-2</c:v>
                </c:pt>
                <c:pt idx="10">
                  <c:v>1.24E-2</c:v>
                </c:pt>
                <c:pt idx="11">
                  <c:v>2.3999999999999998E-3</c:v>
                </c:pt>
                <c:pt idx="12">
                  <c:v>2.9999999999999997E-4</c:v>
                </c:pt>
                <c:pt idx="13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BF-4696-A11A-6FAAC16291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900258256"/>
        <c:axId val="900257296"/>
      </c:barChart>
      <c:catAx>
        <c:axId val="9002582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00257296"/>
        <c:crosses val="autoZero"/>
        <c:auto val="1"/>
        <c:lblAlgn val="ctr"/>
        <c:lblOffset val="100"/>
        <c:noMultiLvlLbl val="0"/>
      </c:catAx>
      <c:valAx>
        <c:axId val="900257296"/>
        <c:scaling>
          <c:orientation val="minMax"/>
        </c:scaling>
        <c:delete val="0"/>
        <c:axPos val="t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00258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users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Young</c:v>
                </c:pt>
                <c:pt idx="1">
                  <c:v>Adult</c:v>
                </c:pt>
                <c:pt idx="2">
                  <c:v>Middle-aged 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0.22090000000000001</c:v>
                </c:pt>
                <c:pt idx="1">
                  <c:v>0.33829999999999999</c:v>
                </c:pt>
                <c:pt idx="2">
                  <c:v>0.33900000000000002</c:v>
                </c:pt>
                <c:pt idx="3">
                  <c:v>0.1018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2B-4787-A225-5D7522D723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revenue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Young</c:v>
                </c:pt>
                <c:pt idx="1">
                  <c:v>Adult</c:v>
                </c:pt>
                <c:pt idx="2">
                  <c:v>Middle-aged Adult</c:v>
                </c:pt>
                <c:pt idx="3">
                  <c:v>Senior</c:v>
                </c:pt>
              </c:strCache>
            </c:strRef>
          </c:cat>
          <c:val>
            <c:numRef>
              <c:f>Sheet1!$C$2:$C$5</c:f>
              <c:numCache>
                <c:formatCode>0.00%</c:formatCode>
                <c:ptCount val="4"/>
                <c:pt idx="0">
                  <c:v>0.21890000000000001</c:v>
                </c:pt>
                <c:pt idx="1">
                  <c:v>0.34360000000000002</c:v>
                </c:pt>
                <c:pt idx="2">
                  <c:v>0.33579999999999999</c:v>
                </c:pt>
                <c:pt idx="3">
                  <c:v>0.1017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2B-4787-A225-5D7522D723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0"/>
        <c:overlap val="-27"/>
        <c:axId val="871345567"/>
        <c:axId val="871346527"/>
      </c:barChart>
      <c:catAx>
        <c:axId val="871345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1346527"/>
        <c:crosses val="autoZero"/>
        <c:auto val="1"/>
        <c:lblAlgn val="ctr"/>
        <c:lblOffset val="100"/>
        <c:noMultiLvlLbl val="0"/>
      </c:catAx>
      <c:valAx>
        <c:axId val="871346527"/>
        <c:scaling>
          <c:orientation val="minMax"/>
          <c:max val="0.35000000000000003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13455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018-4DDD-A34A-3997D12AFB14}"/>
              </c:ext>
            </c:extLst>
          </c:dPt>
          <c:cat>
            <c:strRef>
              <c:f>Sheet1!$A$2:$A$14</c:f>
              <c:strCache>
                <c:ptCount val="13"/>
                <c:pt idx="0">
                  <c:v>Japan</c:v>
                </c:pt>
                <c:pt idx="1">
                  <c:v>Poland</c:v>
                </c:pt>
                <c:pt idx="2">
                  <c:v>United Kingdom</c:v>
                </c:pt>
                <c:pt idx="3">
                  <c:v>Germany</c:v>
                </c:pt>
                <c:pt idx="4">
                  <c:v>United States</c:v>
                </c:pt>
                <c:pt idx="5">
                  <c:v>Spain</c:v>
                </c:pt>
                <c:pt idx="6">
                  <c:v>China</c:v>
                </c:pt>
                <c:pt idx="7">
                  <c:v>Brasil</c:v>
                </c:pt>
                <c:pt idx="8">
                  <c:v>France</c:v>
                </c:pt>
                <c:pt idx="9">
                  <c:v>Colombia</c:v>
                </c:pt>
                <c:pt idx="10">
                  <c:v>South Korea</c:v>
                </c:pt>
                <c:pt idx="11">
                  <c:v>Belgium</c:v>
                </c:pt>
                <c:pt idx="12">
                  <c:v>Australia</c:v>
                </c:pt>
              </c:strCache>
            </c:strRef>
          </c:cat>
          <c:val>
            <c:numRef>
              <c:f>Sheet1!$B$2:$B$14</c:f>
              <c:numCache>
                <c:formatCode>0.00%</c:formatCode>
                <c:ptCount val="13"/>
                <c:pt idx="0">
                  <c:v>0.48599999999999999</c:v>
                </c:pt>
                <c:pt idx="1">
                  <c:v>0.48209999999999997</c:v>
                </c:pt>
                <c:pt idx="2">
                  <c:v>0.47899999999999998</c:v>
                </c:pt>
                <c:pt idx="3">
                  <c:v>0.47520000000000001</c:v>
                </c:pt>
                <c:pt idx="4">
                  <c:v>0.4738</c:v>
                </c:pt>
                <c:pt idx="5">
                  <c:v>0.47320000000000001</c:v>
                </c:pt>
                <c:pt idx="6">
                  <c:v>0.4672</c:v>
                </c:pt>
                <c:pt idx="7">
                  <c:v>0.46579999999999999</c:v>
                </c:pt>
                <c:pt idx="8">
                  <c:v>0.46350000000000002</c:v>
                </c:pt>
                <c:pt idx="9">
                  <c:v>0.45710000000000001</c:v>
                </c:pt>
                <c:pt idx="10">
                  <c:v>0.4546</c:v>
                </c:pt>
                <c:pt idx="11">
                  <c:v>0.4501</c:v>
                </c:pt>
                <c:pt idx="12">
                  <c:v>0.43630000000000002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18-4DDD-A34A-3997D12AF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1303220400"/>
        <c:axId val="1303219920"/>
      </c:barChart>
      <c:catAx>
        <c:axId val="130322040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03219920"/>
        <c:crosses val="autoZero"/>
        <c:auto val="1"/>
        <c:lblAlgn val="ctr"/>
        <c:lblOffset val="100"/>
        <c:noMultiLvlLbl val="0"/>
      </c:catAx>
      <c:valAx>
        <c:axId val="1303219920"/>
        <c:scaling>
          <c:orientation val="minMax"/>
          <c:max val="0.49000000000000005"/>
        </c:scaling>
        <c:delete val="0"/>
        <c:axPos val="t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03220400"/>
        <c:crosses val="autoZero"/>
        <c:crossBetween val="between"/>
        <c:majorUnit val="3.0000000000000006E-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Session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Email</c:v>
                </c:pt>
                <c:pt idx="1">
                  <c:v>Adwords</c:v>
                </c:pt>
                <c:pt idx="2">
                  <c:v>YouTube</c:v>
                </c:pt>
                <c:pt idx="3">
                  <c:v>Facebook</c:v>
                </c:pt>
                <c:pt idx="4">
                  <c:v>Organic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60099</c:v>
                </c:pt>
                <c:pt idx="1">
                  <c:v>39688</c:v>
                </c:pt>
                <c:pt idx="2">
                  <c:v>13391</c:v>
                </c:pt>
                <c:pt idx="3">
                  <c:v>13368</c:v>
                </c:pt>
                <c:pt idx="4">
                  <c:v>6669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00-4D71-B232-3DC0C54B7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306703008"/>
        <c:axId val="871344127"/>
      </c:barChart>
      <c:lineChart>
        <c:grouping val="standard"/>
        <c:varyColors val="0"/>
        <c:ser>
          <c:idx val="1"/>
          <c:order val="1"/>
          <c:tx>
            <c:v>Conversion Rate</c:v>
          </c:tx>
          <c:spPr>
            <a:ln w="254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tx1"/>
              </a:solidFill>
              <a:ln w="25400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c:spPr>
          </c:marker>
          <c:dPt>
            <c:idx val="2"/>
            <c:marker>
              <c:symbol val="circle"/>
              <c:size val="7"/>
              <c:spPr>
                <a:solidFill>
                  <a:schemeClr val="accent2">
                    <a:lumMod val="60000"/>
                    <a:lumOff val="40000"/>
                  </a:schemeClr>
                </a:solidFill>
                <a:ln w="25400"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3000-4D71-B232-3DC0C54B74B5}"/>
              </c:ext>
            </c:extLst>
          </c:dPt>
          <c:val>
            <c:numRef>
              <c:f>Sheet1!$C$2:$C$6</c:f>
              <c:numCache>
                <c:formatCode>0.00%</c:formatCode>
                <c:ptCount val="5"/>
                <c:pt idx="0">
                  <c:v>0.46899999999999997</c:v>
                </c:pt>
                <c:pt idx="1">
                  <c:v>0.46489999999999998</c:v>
                </c:pt>
                <c:pt idx="2">
                  <c:v>0.47670000000000001</c:v>
                </c:pt>
                <c:pt idx="3">
                  <c:v>0.46710000000000002</c:v>
                </c:pt>
                <c:pt idx="4">
                  <c:v>0.46839999999999998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000-4D71-B232-3DC0C54B74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53556448"/>
        <c:axId val="1302776784"/>
      </c:lineChart>
      <c:catAx>
        <c:axId val="130670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1344127"/>
        <c:crosses val="autoZero"/>
        <c:auto val="1"/>
        <c:lblAlgn val="ctr"/>
        <c:lblOffset val="100"/>
        <c:noMultiLvlLbl val="0"/>
      </c:catAx>
      <c:valAx>
        <c:axId val="871344127"/>
        <c:scaling>
          <c:orientation val="minMax"/>
          <c:max val="600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dirty="0"/>
                  <a:t>Sessions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06703008"/>
        <c:crosses val="autoZero"/>
        <c:crossBetween val="between"/>
        <c:majorUnit val="20000"/>
      </c:valAx>
      <c:valAx>
        <c:axId val="130277678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dirty="0"/>
                  <a:t>CR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53556448"/>
        <c:crosses val="max"/>
        <c:crossBetween val="between"/>
        <c:majorUnit val="8.0000000000000019E-3"/>
      </c:valAx>
      <c:catAx>
        <c:axId val="1453556448"/>
        <c:scaling>
          <c:orientation val="minMax"/>
        </c:scaling>
        <c:delete val="1"/>
        <c:axPos val="b"/>
        <c:majorTickMark val="out"/>
        <c:minorTickMark val="none"/>
        <c:tickLblPos val="nextTo"/>
        <c:crossAx val="13027767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Number of Session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00000">
                  <a:alpha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7E2-4946-BFC8-AABCCB4AC96E}"/>
              </c:ext>
            </c:extLst>
          </c:dPt>
          <c:cat>
            <c:strRef>
              <c:f>Sheet1!$A$2:$A$4</c:f>
              <c:strCache>
                <c:ptCount val="3"/>
                <c:pt idx="0">
                  <c:v>cancel</c:v>
                </c:pt>
                <c:pt idx="1">
                  <c:v>cart</c:v>
                </c:pt>
                <c:pt idx="2">
                  <c:v>product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0.24829153959109906</c:v>
                </c:pt>
                <c:pt idx="1">
                  <c:v>0.25093188749576417</c:v>
                </c:pt>
                <c:pt idx="2">
                  <c:v>0.50077657291313682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E2-4946-BFC8-AABCCB4AC9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71223424"/>
        <c:axId val="871219584"/>
      </c:barChart>
      <c:catAx>
        <c:axId val="8712234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1219584"/>
        <c:crosses val="autoZero"/>
        <c:auto val="1"/>
        <c:lblAlgn val="ctr"/>
        <c:lblOffset val="100"/>
        <c:noMultiLvlLbl val="0"/>
      </c:catAx>
      <c:valAx>
        <c:axId val="871219584"/>
        <c:scaling>
          <c:orientation val="minMax"/>
        </c:scaling>
        <c:delete val="0"/>
        <c:axPos val="b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122342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256569881889763"/>
          <c:y val="6.9287318541523285E-2"/>
          <c:w val="0.72614136318897637"/>
          <c:h val="0.787972285970640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Profit 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alpha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F4C-4E3A-A98F-73F2AF7B0E21}"/>
              </c:ext>
            </c:extLst>
          </c:dPt>
          <c:cat>
            <c:strRef>
              <c:f>Sheet1!$A$2:$A$11</c:f>
              <c:strCache>
                <c:ptCount val="10"/>
                <c:pt idx="0">
                  <c:v>Outerwear &amp; Coats</c:v>
                </c:pt>
                <c:pt idx="1">
                  <c:v>Jeans</c:v>
                </c:pt>
                <c:pt idx="2">
                  <c:v>Sweaters</c:v>
                </c:pt>
                <c:pt idx="3">
                  <c:v>Suits &amp; Sport Coats</c:v>
                </c:pt>
                <c:pt idx="4">
                  <c:v>Swim</c:v>
                </c:pt>
                <c:pt idx="5">
                  <c:v>Fashion Hoodies &amp; Sweatshirts</c:v>
                </c:pt>
                <c:pt idx="6">
                  <c:v>Sleep &amp; Lounge</c:v>
                </c:pt>
                <c:pt idx="7">
                  <c:v>Shorts</c:v>
                </c:pt>
                <c:pt idx="8">
                  <c:v>Active</c:v>
                </c:pt>
                <c:pt idx="9">
                  <c:v>Accessories</c:v>
                </c:pt>
              </c:strCache>
            </c:strRef>
          </c:cat>
          <c:val>
            <c:numRef>
              <c:f>Sheet1!$B$2:$B$11</c:f>
              <c:numCache>
                <c:formatCode>_-[$$-409]* #,##0.00_ ;_-[$$-409]* \-#,##0.00\ ;_-[$$-409]* "-"??_ ;_-@_ </c:formatCode>
                <c:ptCount val="10"/>
                <c:pt idx="0">
                  <c:v>256616.7</c:v>
                </c:pt>
                <c:pt idx="1">
                  <c:v>203196.86</c:v>
                </c:pt>
                <c:pt idx="2">
                  <c:v>154001.93</c:v>
                </c:pt>
                <c:pt idx="3">
                  <c:v>136755.35999999999</c:v>
                </c:pt>
                <c:pt idx="4">
                  <c:v>110857.62</c:v>
                </c:pt>
                <c:pt idx="5">
                  <c:v>108590.84</c:v>
                </c:pt>
                <c:pt idx="6">
                  <c:v>99614.39</c:v>
                </c:pt>
                <c:pt idx="7">
                  <c:v>94111.12</c:v>
                </c:pt>
                <c:pt idx="8">
                  <c:v>87486.71</c:v>
                </c:pt>
                <c:pt idx="9">
                  <c:v>87313.919999999998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C-4E3A-A98F-73F2AF7B0E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025077520"/>
        <c:axId val="1025078960"/>
      </c:barChart>
      <c:catAx>
        <c:axId val="10250775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25078960"/>
        <c:crosses val="autoZero"/>
        <c:auto val="1"/>
        <c:lblAlgn val="ctr"/>
        <c:lblOffset val="100"/>
        <c:noMultiLvlLbl val="0"/>
      </c:catAx>
      <c:valAx>
        <c:axId val="1025078960"/>
        <c:scaling>
          <c:orientation val="minMax"/>
        </c:scaling>
        <c:delete val="0"/>
        <c:axPos val="t"/>
        <c:numFmt formatCode="_-[$$-409]* #,##0_ ;_-[$$-409]* \-#,##0\ ;_-[$$-409]* &quot;-&quot;_ ;_-@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25077520"/>
        <c:crosses val="autoZero"/>
        <c:crossBetween val="between"/>
        <c:majorUnit val="10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0049458661417341E-2"/>
          <c:y val="3.4032659370195693E-2"/>
          <c:w val="0.91995054133858267"/>
          <c:h val="0.864898614280751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%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84-4BD8-91FE-84784DAF91EA}"/>
              </c:ext>
            </c:extLst>
          </c:dPt>
          <c:cat>
            <c:strRef>
              <c:f>Sheet1!$A$2:$A$13</c:f>
              <c:strCache>
                <c:ptCount val="12"/>
                <c:pt idx="0">
                  <c:v>Jen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0.00%</c:formatCode>
                <c:ptCount val="12"/>
                <c:pt idx="0">
                  <c:v>0.14910000000000001</c:v>
                </c:pt>
                <c:pt idx="1">
                  <c:v>0.2117</c:v>
                </c:pt>
                <c:pt idx="2">
                  <c:v>4.9099999999999998E-2</c:v>
                </c:pt>
                <c:pt idx="3">
                  <c:v>5.0999999999999997E-2</c:v>
                </c:pt>
                <c:pt idx="4">
                  <c:v>5.2299999999999999E-2</c:v>
                </c:pt>
                <c:pt idx="5">
                  <c:v>5.62E-2</c:v>
                </c:pt>
                <c:pt idx="6">
                  <c:v>5.9900000000000002E-2</c:v>
                </c:pt>
                <c:pt idx="7">
                  <c:v>6.3399999999999998E-2</c:v>
                </c:pt>
                <c:pt idx="8">
                  <c:v>6.7100000000000007E-2</c:v>
                </c:pt>
                <c:pt idx="9">
                  <c:v>7.0800000000000002E-2</c:v>
                </c:pt>
                <c:pt idx="10">
                  <c:v>8.0399999999999999E-2</c:v>
                </c:pt>
                <c:pt idx="11">
                  <c:v>8.8900000000000007E-2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84-4BD8-91FE-84784DAF9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506410416"/>
        <c:axId val="1506413776"/>
      </c:barChart>
      <c:catAx>
        <c:axId val="1506410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06413776"/>
        <c:crosses val="autoZero"/>
        <c:auto val="1"/>
        <c:lblAlgn val="ctr"/>
        <c:lblOffset val="100"/>
        <c:noMultiLvlLbl val="0"/>
      </c:catAx>
      <c:valAx>
        <c:axId val="1506413776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506410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80E8C-EAF3-4863-B36F-E429260BE92F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AB118-0F7C-4F6F-AE01-ADE020907A00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3829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AB118-0F7C-4F6F-AE01-ADE020907A00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1550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5547-53B9-B236-64E1-64EF4BD4C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22609-916F-6779-9093-CF0D37F00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F3AA3-5625-62E3-4BA0-41675FF6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7B2AF-B481-4D80-684A-7006BC9E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2DC76-9C5E-D6D2-D8C0-1E7E8B45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871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7B69-1D9D-FB16-A47F-DE5E2D81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C5DDA-2010-12A9-6ACC-05809A95C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981E0-7D5D-16EF-47EB-41886749B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5FA88-A370-222C-1684-B8E40BD4E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196B5-6F89-AFD5-5FE0-F93F6A80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487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79D1-1137-E870-C556-E7D8A951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8CD7D-B312-A03D-2BAB-41368F91D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5B8E2-6594-C6F7-6AED-965B7EB0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5001A-26C4-5725-5986-3FBCB4AF0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C9490-9A4E-1C71-B59B-BC9F3213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504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4E552-2A3C-D931-1BB5-DAD1E9AE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C6AD-2A53-97AB-DD00-1B5186A0E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42EFC-BED3-FB22-DDF7-60181E4CF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97819D-A9D6-EF91-542A-843AA67B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A4199-0573-B0AF-8793-CF4736747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840E8-72E6-6A0A-847F-165BD84D6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94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ECE7-5415-3B2E-13F7-D2747477D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BC07D-CB13-DB96-77C4-073D97B7B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5D3F2-5F71-7891-AE5E-717449E88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DDEFDD-906F-9F80-59AA-49F50B6B7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97BD51-E1FA-54A1-B4EB-ABC377EE8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C008A-1206-C694-1FDD-33C4680F5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93F94F-F3E6-1EAD-11AB-7D1CF49C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24E120-EA04-8903-A3D1-D0CA49507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5611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473E-F480-EC9D-2F82-B18BD364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17F48-BB4B-1C59-96CA-A486303DB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E8D274-DC93-7B42-CD31-871BE994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8B7EA-B90C-8268-B7E4-43895238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509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07B28-799E-4080-2A27-59EDD238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0E9B7-66B7-2004-4170-EFBA1F91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CD873-55F3-FE6E-6892-AC338E1E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54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B83C-148E-B027-7798-197A67D6A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B505-1A9A-74BD-A954-699BE1821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0C916-FA44-B232-4EB3-2BE9EF089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13A1D-DF80-9854-056F-EB0959D4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71493-A7D9-4B60-D1D5-9B911222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D457F-697E-9F4D-68F1-BEA2C723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1129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2DC4B-F3BC-3583-A267-D6297A48F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F829C-6BA0-F188-41DF-4C097635B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76B16-87B7-8C0D-45B8-CA2D4AB4C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A6778-1621-149A-7208-483AF1F9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9F7E0-3032-8C80-717F-8AB81E16C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5AF83-644E-A989-7F98-E1CA02A68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97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E852-D001-330C-9883-45B8A3EE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86036-5969-0F11-B268-2FFC0CF9D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53C91-2332-1914-D7E2-1031FC009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C4162-0236-1454-811E-0F546083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02772-7689-6854-30C6-C36C4D09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565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1BEDA-B974-29F9-0EE4-00BF48DF5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93C27F-66FD-2325-B194-BB8E62633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887B0-FD01-289D-A239-0553EAEF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A8915-C7CF-A98D-A7CC-FDDD4504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D31EF-2267-2834-B5CD-853906BA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757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BFD05-FC36-20AA-2C2E-E33DCA27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C0841-D330-10B4-CAEF-B731CA757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4600D-89A4-05C4-6AB2-F427855A07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8CFD9-EB0B-4A12-AA66-3137F2832CD3}" type="datetimeFigureOut">
              <a:rPr lang="it-IT" smtClean="0"/>
              <a:t>22/03/2026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E6D2-D250-4DCA-ADB0-A267B92BF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3EA21-A019-95E8-D5FF-839720CF5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5A018-3B70-4339-BDC8-B4AAB6EC4F3F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34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19D916-9A68-563A-ECF4-4B6E7D8C37F0}"/>
              </a:ext>
            </a:extLst>
          </p:cNvPr>
          <p:cNvSpPr txBox="1"/>
          <p:nvPr/>
        </p:nvSpPr>
        <p:spPr>
          <a:xfrm>
            <a:off x="206477" y="235974"/>
            <a:ext cx="11779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is growing steadily, with a sharp increase in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endParaRPr lang="en-US" sz="1600" dirty="0">
              <a:solidFill>
                <a:srgbClr val="FFC000"/>
              </a:solidFill>
            </a:endParaRPr>
          </a:p>
          <a:p>
            <a:r>
              <a:rPr lang="en-US" sz="1600" dirty="0"/>
              <a:t>2019–2025 completed years, in million USD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19CB1F0-8875-A2F6-FC56-F8D7EA9982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6308940"/>
              </p:ext>
            </p:extLst>
          </p:nvPr>
        </p:nvGraphicFramePr>
        <p:xfrm>
          <a:off x="801328" y="1535334"/>
          <a:ext cx="8128000" cy="49342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D1F5CF-A6B1-240C-123C-C1D8226FDF3B}"/>
              </a:ext>
            </a:extLst>
          </p:cNvPr>
          <p:cNvSpPr/>
          <p:nvPr/>
        </p:nvSpPr>
        <p:spPr>
          <a:xfrm>
            <a:off x="8929328" y="1535334"/>
            <a:ext cx="2202426" cy="54077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significant acceleration in 2025</a:t>
            </a:r>
          </a:p>
        </p:txBody>
      </p:sp>
    </p:spTree>
    <p:extLst>
      <p:ext uri="{BB962C8B-B14F-4D97-AF65-F5344CB8AC3E}">
        <p14:creationId xmlns:p14="http://schemas.microsoft.com/office/powerpoint/2010/main" val="3279707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9BF32-0FA3-3ABA-8C8E-BD26F947E805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is primarily driven by </a:t>
            </a: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China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3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Brasil</a:t>
            </a: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/>
              <a:t>Profit percentage by country in </a:t>
            </a:r>
            <a:r>
              <a:rPr lang="en-US" sz="1600" b="1" dirty="0">
                <a:solidFill>
                  <a:srgbClr val="FFC000"/>
                </a:solidFill>
              </a:rPr>
              <a:t>2025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41F120C-3908-2A62-DBCF-C35E86D3EF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8525913"/>
              </p:ext>
            </p:extLst>
          </p:nvPr>
        </p:nvGraphicFramePr>
        <p:xfrm>
          <a:off x="894660" y="1554948"/>
          <a:ext cx="7180825" cy="5067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8A6CFF-A98B-8591-9A39-AB3E0A598CAB}"/>
              </a:ext>
            </a:extLst>
          </p:cNvPr>
          <p:cNvSpPr/>
          <p:nvPr/>
        </p:nvSpPr>
        <p:spPr>
          <a:xfrm>
            <a:off x="8075485" y="2008997"/>
            <a:ext cx="3038168" cy="50144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China leads profit share by a wide margin</a:t>
            </a:r>
            <a:endParaRPr lang="it-IT" sz="1600" dirty="0">
              <a:solidFill>
                <a:schemeClr val="tx1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0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05BE5D-FABA-888E-2D4A-694B7E0A65A2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distribution mirrors profit distribution by country </a:t>
            </a:r>
          </a:p>
          <a:p>
            <a:r>
              <a:rPr lang="en-US" sz="1600" dirty="0"/>
              <a:t>Percentage of users by country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8787E89-E5D0-0566-5EE6-FDCEA3AF8F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4097767"/>
              </p:ext>
            </p:extLst>
          </p:nvPr>
        </p:nvGraphicFramePr>
        <p:xfrm>
          <a:off x="759370" y="1641987"/>
          <a:ext cx="7289477" cy="4905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570EC3-2DAE-0EF5-C129-260938430FF0}"/>
              </a:ext>
            </a:extLst>
          </p:cNvPr>
          <p:cNvSpPr/>
          <p:nvPr/>
        </p:nvSpPr>
        <p:spPr>
          <a:xfrm>
            <a:off x="8048847" y="2030818"/>
            <a:ext cx="3086072" cy="86177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The countries driving profit growth are also those with the largest user base</a:t>
            </a:r>
            <a:endParaRPr lang="it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58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F755F2-4995-4CFF-434B-B996BDBEEAF8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Adults and middle‑aged adults drive the majority of users/revenue </a:t>
            </a:r>
          </a:p>
          <a:p>
            <a:r>
              <a:rPr lang="en-US" sz="1600" dirty="0"/>
              <a:t>Distribution of users and revenue by age group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5071208-BA84-3A78-1A0C-97B94899E8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9242094"/>
              </p:ext>
            </p:extLst>
          </p:nvPr>
        </p:nvGraphicFramePr>
        <p:xfrm>
          <a:off x="2031999" y="1484672"/>
          <a:ext cx="8128000" cy="4820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083C42D-24BE-DCAD-DB76-AA12ADA84C75}"/>
              </a:ext>
            </a:extLst>
          </p:cNvPr>
          <p:cNvSpPr/>
          <p:nvPr/>
        </p:nvSpPr>
        <p:spPr>
          <a:xfrm>
            <a:off x="2900516" y="2939846"/>
            <a:ext cx="1150374" cy="275303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C282E-955A-DAAC-7CE3-A9CDB69FF2DE}"/>
              </a:ext>
            </a:extLst>
          </p:cNvPr>
          <p:cNvSpPr/>
          <p:nvPr/>
        </p:nvSpPr>
        <p:spPr>
          <a:xfrm>
            <a:off x="8554065" y="4365522"/>
            <a:ext cx="1061883" cy="12388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AEF87E-C22C-7E24-4C83-CFC3071F4963}"/>
              </a:ext>
            </a:extLst>
          </p:cNvPr>
          <p:cNvSpPr/>
          <p:nvPr/>
        </p:nvSpPr>
        <p:spPr>
          <a:xfrm>
            <a:off x="8554065" y="1720646"/>
            <a:ext cx="3254478" cy="98322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Adults and middle‑aged adults represent ~70% of users and revenue</a:t>
            </a:r>
            <a:endParaRPr lang="it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545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ABAA9-917D-86AF-7F5F-365D8E4443EB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Gender distribution is perfectly balanced</a:t>
            </a:r>
          </a:p>
          <a:p>
            <a:r>
              <a:rPr lang="en-US" sz="1600" dirty="0"/>
              <a:t>Male and female users contribute equally to the platform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5BE05E-30D2-0769-0838-3758F4691839}"/>
              </a:ext>
            </a:extLst>
          </p:cNvPr>
          <p:cNvSpPr/>
          <p:nvPr/>
        </p:nvSpPr>
        <p:spPr>
          <a:xfrm>
            <a:off x="2123768" y="2349904"/>
            <a:ext cx="3854245" cy="2153265"/>
          </a:xfrm>
          <a:prstGeom prst="rect">
            <a:avLst/>
          </a:prstGeom>
          <a:solidFill>
            <a:schemeClr val="tx2">
              <a:lumMod val="25000"/>
              <a:lumOff val="75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chemeClr val="tx1"/>
                </a:solidFill>
              </a:rPr>
              <a:t>MALE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49,83%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480DD-9F37-C7F7-9C6A-86181204D999}"/>
              </a:ext>
            </a:extLst>
          </p:cNvPr>
          <p:cNvSpPr/>
          <p:nvPr/>
        </p:nvSpPr>
        <p:spPr>
          <a:xfrm>
            <a:off x="6213988" y="2352365"/>
            <a:ext cx="3854245" cy="215326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200" b="1" dirty="0">
                <a:solidFill>
                  <a:schemeClr val="tx1"/>
                </a:solidFill>
              </a:rPr>
              <a:t>FEMALE</a:t>
            </a:r>
          </a:p>
          <a:p>
            <a:pPr algn="ctr"/>
            <a:r>
              <a:rPr lang="it-IT" dirty="0">
                <a:solidFill>
                  <a:schemeClr val="tx1"/>
                </a:solidFill>
              </a:rPr>
              <a:t>50,17%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854C78-10EA-3E3C-9386-80CBBC546B74}"/>
              </a:ext>
            </a:extLst>
          </p:cNvPr>
          <p:cNvSpPr/>
          <p:nvPr/>
        </p:nvSpPr>
        <p:spPr>
          <a:xfrm>
            <a:off x="1986115" y="5286842"/>
            <a:ext cx="8219768" cy="473405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 balanced gender distribution strengthens the platform’s reach and market potential</a:t>
            </a:r>
            <a:endParaRPr lang="it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7F46C-5746-9E9D-2D76-908FF132E2BE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Japan shows the highest conversion rate</a:t>
            </a:r>
          </a:p>
          <a:p>
            <a:r>
              <a:rPr lang="en-US" sz="1600" dirty="0"/>
              <a:t>Conversion rate distribution across countries - 2025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BEDB633-D342-3725-5266-53D1DBA67A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526049"/>
              </p:ext>
            </p:extLst>
          </p:nvPr>
        </p:nvGraphicFramePr>
        <p:xfrm>
          <a:off x="822633" y="1504335"/>
          <a:ext cx="8128000" cy="4984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8958C-3DDA-5B1A-E474-B187C9D0A7CB}"/>
              </a:ext>
            </a:extLst>
          </p:cNvPr>
          <p:cNvSpPr/>
          <p:nvPr/>
        </p:nvSpPr>
        <p:spPr>
          <a:xfrm>
            <a:off x="8950633" y="1969366"/>
            <a:ext cx="3086072" cy="145963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Japan leads but contributes marginally to users and profit. High conversion does not necessarily translate into high business impact</a:t>
            </a:r>
            <a:endParaRPr lang="it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138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1DCF76-3FE5-1C79-24B1-F09D0C43B5FC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YouTube delivers the highest CR despite lower traffic volume </a:t>
            </a:r>
            <a:r>
              <a:rPr lang="en-US" sz="1600" dirty="0"/>
              <a:t>Sessions and conversion rate by traffic source - 2025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A105970-0F1C-A4BB-E0EA-09D9BE1848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938633"/>
              </p:ext>
            </p:extLst>
          </p:nvPr>
        </p:nvGraphicFramePr>
        <p:xfrm>
          <a:off x="998536" y="1676545"/>
          <a:ext cx="6788150" cy="43666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E2CA95-67EE-5C0E-425E-3E276358CBCE}"/>
              </a:ext>
            </a:extLst>
          </p:cNvPr>
          <p:cNvSpPr/>
          <p:nvPr/>
        </p:nvSpPr>
        <p:spPr>
          <a:xfrm>
            <a:off x="8234361" y="3028804"/>
            <a:ext cx="3248025" cy="800391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YouTube is the most efficient traffic source, while Email remains the main volume driver</a:t>
            </a:r>
            <a:endParaRPr lang="it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565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C56115-4E6F-6992-982B-0E13D2C59495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most users who do not purchase drop off on product pages</a:t>
            </a:r>
          </a:p>
          <a:p>
            <a:r>
              <a:rPr lang="en-US" sz="1600" dirty="0"/>
              <a:t>Distribution of endpoints for sessions concluded without purchase - 2025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781EBFF-3C12-3A67-F182-3838F2E69C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195681"/>
              </p:ext>
            </p:extLst>
          </p:nvPr>
        </p:nvGraphicFramePr>
        <p:xfrm>
          <a:off x="1286336" y="1758002"/>
          <a:ext cx="7662606" cy="41423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0C35D6-6FE2-8EFB-7364-5E62B5CF99CD}"/>
              </a:ext>
            </a:extLst>
          </p:cNvPr>
          <p:cNvSpPr/>
          <p:nvPr/>
        </p:nvSpPr>
        <p:spPr>
          <a:xfrm>
            <a:off x="8355730" y="2143900"/>
            <a:ext cx="3248025" cy="800391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Optimizing product pages could significantly increase total conversions</a:t>
            </a:r>
            <a:endParaRPr lang="it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552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23362-2A64-CD10-A806-41E68FCC4ED7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Outerwear &amp; Coats is the top profit‑generating category</a:t>
            </a:r>
          </a:p>
          <a:p>
            <a:r>
              <a:rPr lang="en-US" sz="1600" dirty="0"/>
              <a:t>Profit distribution across top 10 product categories - 2025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D589EBF-A851-DDD7-827C-3BBD2250E7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1645806"/>
              </p:ext>
            </p:extLst>
          </p:nvPr>
        </p:nvGraphicFramePr>
        <p:xfrm>
          <a:off x="920955" y="1750143"/>
          <a:ext cx="8128000" cy="4650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9105B5-DF5A-9474-CA99-E2D76B944014}"/>
              </a:ext>
            </a:extLst>
          </p:cNvPr>
          <p:cNvSpPr/>
          <p:nvPr/>
        </p:nvSpPr>
        <p:spPr>
          <a:xfrm>
            <a:off x="8023020" y="2143900"/>
            <a:ext cx="3248025" cy="800391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Focusing on top‑performing categories could significantly increase overall profitability</a:t>
            </a:r>
            <a:endParaRPr lang="it-IT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38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DB413B-5537-3791-5DC7-8B2BFB9CA92D}"/>
              </a:ext>
            </a:extLst>
          </p:cNvPr>
          <p:cNvSpPr txBox="1"/>
          <p:nvPr/>
        </p:nvSpPr>
        <p:spPr>
          <a:xfrm>
            <a:off x="206477" y="235974"/>
            <a:ext cx="1177904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</a:t>
            </a:r>
            <a:r>
              <a:rPr lang="en-US" sz="32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</a:t>
            </a: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Revenue is highly seasonal, with a strong peak in February </a:t>
            </a:r>
            <a:r>
              <a:rPr lang="it-IT" sz="1600" dirty="0"/>
              <a:t>Monthly revenue distribution </a:t>
            </a:r>
            <a:r>
              <a:rPr lang="en-US" sz="1600" dirty="0"/>
              <a:t>- 2025</a:t>
            </a:r>
            <a:endParaRPr lang="en-US" sz="1600" b="1" dirty="0">
              <a:solidFill>
                <a:srgbClr val="FFC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BFFB1E2-5153-E9E3-C6E5-7FDA5EB5A2F2}"/>
              </a:ext>
            </a:extLst>
          </p:cNvPr>
          <p:cNvSpPr/>
          <p:nvPr/>
        </p:nvSpPr>
        <p:spPr>
          <a:xfrm>
            <a:off x="1936954" y="5855710"/>
            <a:ext cx="8318090" cy="589467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the winter period show higher revenue shares, which may indicate seasonal trends such as winter sales or holiday‑driven purchases</a:t>
            </a:r>
            <a:endParaRPr lang="it-IT" sz="16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397613-905D-8005-D900-B3579B894057}"/>
              </a:ext>
            </a:extLst>
          </p:cNvPr>
          <p:cNvSpPr/>
          <p:nvPr/>
        </p:nvSpPr>
        <p:spPr>
          <a:xfrm>
            <a:off x="3963987" y="2584448"/>
            <a:ext cx="3248025" cy="688024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February alone accounts for over 21% of annual revenue</a:t>
            </a:r>
            <a:endParaRPr lang="it-IT" sz="1600" dirty="0">
              <a:solidFill>
                <a:schemeClr val="tx1"/>
              </a:solidFill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2441CCF-4445-F157-D988-0A28844A7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376800"/>
              </p:ext>
            </p:extLst>
          </p:nvPr>
        </p:nvGraphicFramePr>
        <p:xfrm>
          <a:off x="2031999" y="1642397"/>
          <a:ext cx="8128000" cy="3845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51792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323</Words>
  <Application>Microsoft Office PowerPoint</Application>
  <PresentationFormat>Widescreen</PresentationFormat>
  <Paragraphs>36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eddy belingheri</dc:creator>
  <cp:lastModifiedBy>eddy belingheri</cp:lastModifiedBy>
  <cp:revision>9</cp:revision>
  <dcterms:created xsi:type="dcterms:W3CDTF">2026-03-20T09:27:10Z</dcterms:created>
  <dcterms:modified xsi:type="dcterms:W3CDTF">2026-03-22T11:05:39Z</dcterms:modified>
</cp:coreProperties>
</file>